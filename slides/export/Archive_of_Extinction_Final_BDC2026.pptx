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Archive of Extinction: AI Memorial for Lost Species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Umwelt Hypothesis Dossiers / Sensory Time Capsule</a:t>
            </a:r>
          </a:p>
          <a:p>
            <a:r>
              <a:t>Biodesign Challenge 2026 | Convergent Life | Biodigital Excellence</a:t>
            </a:r>
          </a:p>
          <a:p>
            <a:r>
              <a:t>Macau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institution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Institution: Macau University</a:t>
            </a:r>
          </a:p>
          <a:p>
            <a:pPr>
              <a:defRPr sz="1600"/>
            </a:pPr>
            <a:r>
              <a:t>Mentor: Atticus SIMS</a:t>
            </a:r>
          </a:p>
          <a:p>
            <a:pPr>
              <a:defRPr sz="1600"/>
            </a:pPr>
            <a:r>
              <a:t>GUO XIAO YUE - MC569254</a:t>
            </a:r>
          </a:p>
          <a:p>
            <a:pPr>
              <a:defRPr sz="1600"/>
            </a:pPr>
            <a:r>
              <a:t>LIU JIA QUN - MC569293</a:t>
            </a:r>
          </a:p>
          <a:p>
            <a:pPr>
              <a:defRPr sz="1600"/>
            </a:pPr>
            <a:r>
              <a:t>Program: Digital Art &amp; AI Technology (MDes) | 2-person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project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Extinction removes more than bodies: it erases routes, light-dark entrainment, social synchrony, and sensory fit to landscape.</a:t>
            </a:r>
          </a:p>
          <a:p>
            <a:pPr>
              <a:defRPr sz="1600"/>
            </a:pPr>
            <a:r>
              <a:t>Public memory normalizes ecological absence into icons; science stays in papers while loss becomes abstract.</a:t>
            </a:r>
          </a:p>
          <a:p>
            <a:pPr>
              <a:defRPr sz="1600"/>
            </a:pPr>
            <a:r>
              <a:t>Design question: how do we make rigorous biology feelable without pretending we fully know another species' Umwelt?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Archive of Extinction is a browser-first biodesign memorial that reconstructs a bounded sensory-temporal hypothesis space for extinct species.</a:t>
            </a:r>
          </a:p>
          <a:p>
            <a:pPr>
              <a:defRPr sz="1600"/>
            </a:pPr>
            <a:r>
              <a:t>It is grounded in citable research, expressed through WebXR, controlled generative passes, and optional Web Audio.</a:t>
            </a:r>
          </a:p>
          <a:p>
            <a:pPr>
              <a:defRPr sz="1600"/>
            </a:pPr>
            <a:r>
              <a:t>The experience closes with evidence literacy and branching ethics so digital recall never erases conservation urgency.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&amp; title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Main title foregrounds extinction and remembrance: this is not de-extinction marketing.</a:t>
            </a:r>
          </a:p>
          <a:p>
            <a:pPr>
              <a:defRPr sz="1600"/>
            </a:pPr>
            <a:r>
              <a:t>“Umwelt Hypothesis Dossiers” signals that each species is a folder of testable claims, not a fantasy safari.</a:t>
            </a:r>
          </a:p>
          <a:p>
            <a:pPr>
              <a:defRPr sz="1600"/>
            </a:pPr>
            <a:r>
              <a:t>“Sensory Time Capsule” emphasizes temporal niche - how a species lived in day, season, synchrony, and atmosphere.</a:t>
            </a:r>
          </a:p>
          <a:p>
            <a:pPr>
              <a:defRPr sz="1600"/>
            </a:pPr>
            <a:r>
              <a:t>Locked scope: two deep dossiers only - woolly mammoth + thylacine.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Dossier: evidence cards, temporal niche, sensory proxies, extinction mechanism, constrained 360 scene.</a:t>
            </a:r>
          </a:p>
          <a:p>
            <a:pPr>
              <a:defRPr sz="1600"/>
            </a:pPr>
            <a:r>
              <a:t>Mixer: seasonal layers, diel rhythm, coexistence density, harmony -&gt; conflict as sonic / temporal retuning.</a:t>
            </a:r>
          </a:p>
          <a:p>
            <a:pPr>
              <a:defRPr sz="1600"/>
            </a:pPr>
            <a:r>
              <a:t>Ethics console: evidence gate + branching trade-offs around conservation, law, ecosystem risk, and sovereignty.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Biological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Only traceable evidence enters the archive: tusk isotopes, comparative genomics, morphology as sensory proxy, historical ecology, and acoustic relatives.</a:t>
            </a:r>
          </a:p>
          <a:p>
            <a:pPr>
              <a:defRPr sz="1600"/>
            </a:pPr>
            <a:r>
              <a:t>Every strong claim is tagged Cited, Interpolated / Modeled, or Speculative.</a:t>
            </a:r>
          </a:p>
          <a:p>
            <a:pPr>
              <a:defRPr sz="1600"/>
            </a:pPr>
            <a:r>
              <a:t>Mammoth copy is locked to “circadian-related genes” until full-text PER2 confirmation exists.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layer &amp; design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WebXR stack: A-Frame / Three.js with desktop fallback; minimal QR-linked physical anchor for summit reliability.</a:t>
            </a:r>
          </a:p>
          <a:p>
            <a:pPr>
              <a:defRPr sz="1600"/>
            </a:pPr>
            <a:r>
              <a:t>Generative image strategy: control-first passes, procedural atmosphere, and palette / sun rules bounded by paleo proxies.</a:t>
            </a:r>
          </a:p>
          <a:p>
            <a:pPr>
              <a:defRPr sz="1600"/>
            </a:pPr>
            <a:r>
              <a:t>Time scrubber, sonification / Web Audio, and on-screen citation tags turn atmosphere into argument rather than decoration.</a:t>
            </a:r>
          </a:p>
          <a:p>
            <a:pPr>
              <a:defRPr sz="1600"/>
            </a:pPr>
            <a:r>
              <a:t>Reflection UI uses auditable heuristics, not opaque LLM outputs, to compare viewer input with ethics themes.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species - two dossiers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b="1" sz="1400"/>
            </a:pPr>
            <a:r>
              <a:t>Woolly mammoth</a:t>
            </a:r>
          </a:p>
          <a:p>
            <a:pPr>
              <a:defRPr sz="1300"/>
            </a:pPr>
            <a:r>
              <a:t>Hero species for Arctic rhythm, mammoth-steppe atmosphere, and de-extinction pressure.</a:t>
            </a:r>
          </a:p>
          <a:p>
            <a:pPr>
              <a:defRPr sz="1300"/>
            </a:pPr>
            <a:r>
              <a:t>Lynch 2015 circadian-related genes; Lu 2010 reindeer analogy [Interpolated]; Zimov 2012 habitat pulse.</a:t>
            </a:r>
          </a:p>
          <a:p>
            <a:pPr>
              <a:defRPr sz="1300"/>
            </a:pPr>
            <a:r>
              <a:t>Additional anchors: Wooller 2021 tusk isotope mobility; Nogues-Bravo 2008 climate x human extinction context.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b="1" sz="1400"/>
            </a:pPr>
            <a:r>
              <a:t>Thylacine</a:t>
            </a:r>
          </a:p>
          <a:p>
            <a:pPr>
              <a:defRPr sz="1300"/>
            </a:pPr>
            <a:r>
              <a:t>Structural echo for crepuscular vision, colonial memory, and cultural sovereignty.</a:t>
            </a:r>
          </a:p>
          <a:p>
            <a:pPr>
              <a:defRPr sz="1300"/>
            </a:pPr>
            <a:r>
              <a:t>Pozniak 2018 orbit / diel activity; Mass &amp; Supin 2020 RGC methods [Interpolated]; Paddle 2000; Sleightholme &amp; Campbell 2016.</a:t>
            </a:r>
          </a:p>
          <a:p>
            <a:pPr>
              <a:defRPr sz="1300"/>
            </a:pPr>
            <a:r>
              <a:t>T5 context: Clements 2025 plus Palawa-led / centered Rimmer 2020, Lehman 2013, and Schlunke 2025.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journey &amp; scene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Mammoth path: Scene_Bio_01 -&gt; Scene_Environment_02 -&gt; Scene_Landscape_01 -&gt; Scene_Sensory_01.</a:t>
            </a:r>
          </a:p>
          <a:p>
            <a:pPr>
              <a:defRPr sz="1600"/>
            </a:pPr>
            <a:r>
              <a:t>Thylacine path: Scene_Bio_02 -&gt; Scene_POV_01 -&gt; Scene_Context_01.</a:t>
            </a:r>
          </a:p>
          <a:p>
            <a:pPr>
              <a:defRPr sz="1600"/>
            </a:pPr>
            <a:r>
              <a:t>Shared modules: UI_Indigenous_Context -&gt; UI_Ethics_Fork -&gt; UI_Reflection_Log.</a:t>
            </a:r>
          </a:p>
          <a:p>
            <a:pPr>
              <a:defRPr sz="1600"/>
            </a:pPr>
            <a:r>
              <a:t>All three load-bearing modules ship in the MVP: Dossier -&gt; Mixer -&gt; Ethics.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&amp; evidence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Claims are imported to structured cards / JSON; each block is labeled Cited / Modeled / Speculative.</a:t>
            </a:r>
          </a:p>
          <a:p>
            <a:pPr>
              <a:defRPr sz="1600"/>
            </a:pPr>
            <a:r>
              <a:t>Science visuals can include ggplot2 stills for tusk isotope summaries and time-series evidence panels.</a:t>
            </a:r>
          </a:p>
          <a:p>
            <a:pPr>
              <a:defRPr sz="1600"/>
            </a:pPr>
            <a:r>
              <a:t>Generative runs log model, date, and seed where relevant; DSP rules are documented rather than hidden.</a:t>
            </a:r>
          </a:p>
          <a:p>
            <a:pPr>
              <a:defRPr sz="1600"/>
            </a:pPr>
            <a:r>
              <a:t>Process includes at least two evidence audits during production to remove unlabeled claims.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Ethics, colonial violence &amp; ecological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Sherkow &amp; Greely (2013): trade-offs between laboratory de-extinction, in situ conservation, legal novelty, and ecological liability.</a:t>
            </a:r>
          </a:p>
          <a:p>
            <a:pPr>
              <a:defRPr sz="1600"/>
            </a:pPr>
            <a:r>
              <a:t>Thylacine loss is entangled with violence against Palawa peoples and Country in lutruwita / Tasmania.</a:t>
            </a:r>
          </a:p>
          <a:p>
            <a:pPr>
              <a:defRPr sz="1600"/>
            </a:pPr>
            <a:r>
              <a:t>Interface protocol: Palawa-first voices where possible; author positionality is explicit; no tourism copy as TEK.</a:t>
            </a:r>
          </a:p>
          <a:p>
            <a:pPr>
              <a:defRPr sz="1600"/>
            </a:pPr>
            <a:r>
              <a:t>The archive is remembrance and accountability, not resurrection spectacle.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Ideation &amp; design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 Map skills -&gt; 2 Intersection statements -&gt; 3 Rubric stress-test -&gt; 4 Biology sprint.</a:t>
            </a:r>
          </a:p>
          <a:p>
            <a:pPr>
              <a:defRPr sz="1600"/>
            </a:pPr>
            <a:r>
              <a:t>5 Bio / digital split -&gt; 6 Narrative draft -&gt; 7 Prototype + deliverables -&gt; 8 Build / polish / Q&amp;A.</a:t>
            </a:r>
          </a:p>
          <a:p>
            <a:pPr>
              <a:defRPr sz="1600"/>
            </a:pPr>
            <a:r>
              <a:t>This process is aligned with the course workbook, biodesign_cursor_agent.md, and BDC judging logic.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plan (4-week spine)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Week 1: literature grid, storyboard, WebXR shell, evidence audit #1.</a:t>
            </a:r>
          </a:p>
          <a:p>
            <a:pPr>
              <a:defRPr sz="1600"/>
            </a:pPr>
            <a:r>
              <a:t>Week 2: dossier UI, time scrubber, environment logic, ethics drafts, methods / limitations slide.</a:t>
            </a:r>
          </a:p>
          <a:p>
            <a:pPr>
              <a:defRPr sz="1600"/>
            </a:pPr>
            <a:r>
              <a:t>Week 3: integrate thylacine context, reflection panel, sonification, evidence audit #2.</a:t>
            </a:r>
          </a:p>
          <a:p>
            <a:pPr>
              <a:defRPr sz="1600"/>
            </a:pPr>
            <a:r>
              <a:t>Week 4: polish, accessibility, P0 bugs only, 10-min talk, 5-min Q&amp;A, trailer export.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Biodesign Challenge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Narrative: clear emotional and spatial journey supported by live digital demo.</a:t>
            </a:r>
          </a:p>
          <a:p>
            <a:pPr>
              <a:defRPr sz="1600"/>
            </a:pPr>
            <a:r>
              <a:t>Concept: temporal niche + Umwelt + evidence literacy creates a distinct biodigital proposition.</a:t>
            </a:r>
          </a:p>
          <a:p>
            <a:pPr>
              <a:defRPr sz="1600"/>
            </a:pPr>
            <a:r>
              <a:t>Context: biodiversity loss, de-extinction ethics, misinformation risk, and Indigenous sovereignty.</a:t>
            </a:r>
          </a:p>
          <a:p>
            <a:pPr>
              <a:defRPr sz="1600"/>
            </a:pPr>
            <a:r>
              <a:t>Reflection: documented limitations, epistemic layers, prompt / model logging, user reflection.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 &amp; summit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10-minute oral presentation + 5-minute Q&amp;A.</a:t>
            </a:r>
          </a:p>
          <a:p>
            <a:pPr>
              <a:defRPr sz="1600"/>
            </a:pPr>
            <a:r>
              <a:t>Visual renderings, WebXR experience, and citation-aware UI captures.</a:t>
            </a:r>
          </a:p>
          <a:p>
            <a:pPr>
              <a:defRPr sz="1600"/>
            </a:pPr>
            <a:r>
              <a:t>Minimal physical anchor + QR for reliable access in gallery or talk format.</a:t>
            </a:r>
          </a:p>
          <a:p>
            <a:pPr>
              <a:defRPr sz="1600"/>
            </a:pPr>
            <a:r>
              <a:t>1-5 minute creative trailer, PPT deck, methods appendix, and citations / limits in parallel.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literature - mammoth dossier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Lynch et al. 2015. Cell Reports. Elephantid genomes and Arctic adaptation. DOI 10.1016/j.celrep.2015.06.027</a:t>
            </a:r>
          </a:p>
          <a:p>
            <a:pPr>
              <a:defRPr sz="1600"/>
            </a:pPr>
            <a:r>
              <a:t>Lu et al. 2010. Current Biology. Reindeer circadian attenuation. DOI 10.1016/j.cub.2010.01.042</a:t>
            </a:r>
          </a:p>
          <a:p>
            <a:pPr>
              <a:defRPr sz="1600"/>
            </a:pPr>
            <a:r>
              <a:t>Zimov et al. 2012. Quaternary Science Reviews. Mammoth steppe productivity. DOI 10.1016/j.quascirev.2012.08.004</a:t>
            </a:r>
          </a:p>
          <a:p>
            <a:pPr>
              <a:defRPr sz="1600"/>
            </a:pPr>
            <a:r>
              <a:t>Wooller et al. 2021. Science. Lifetime mobility of an Arctic woolly mammoth. DOI 10.1126/science.abg1134</a:t>
            </a:r>
          </a:p>
          <a:p>
            <a:pPr>
              <a:defRPr sz="1600"/>
            </a:pPr>
            <a:r>
              <a:t>Nogues-Bravo et al. 2008. PLoS Biology. Climate, humans, and mammoth extinction. DOI 10.1371/journal.pbio.0060079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literature - thylacine dossier &amp; sovereignty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Pozniak et al. 2018. Orbit / skull morphology and diel activity. DOI 10.1002/ar.23910</a:t>
            </a:r>
          </a:p>
          <a:p>
            <a:pPr>
              <a:defRPr sz="1600"/>
            </a:pPr>
            <a:r>
              <a:t>Mass &amp; Supin 2020. RGC topography methods. DOI 10.31857/S0002332920060107 [Interpolated in thylacine POV]</a:t>
            </a:r>
          </a:p>
          <a:p>
            <a:pPr>
              <a:defRPr sz="1600"/>
            </a:pPr>
            <a:r>
              <a:t>Paddle 2000. The Last Tasmanian Tiger. ISBN 9780521782196</a:t>
            </a:r>
          </a:p>
          <a:p>
            <a:pPr>
              <a:defRPr sz="1600"/>
            </a:pPr>
            <a:r>
              <a:t>Sleightholme &amp; Campbell 2016. Human pressures and extinction framing. DOI 10.1080/00222933.2016.1217037</a:t>
            </a:r>
          </a:p>
          <a:p>
            <a:pPr>
              <a:defRPr sz="1600"/>
            </a:pPr>
            <a:r>
              <a:t>Clements 2025. DOI 10.1177/13534858251272203 | Rimmer 2020 Artlink | Lehman 2013 Griffith Review | Schlunke 2025 DOI 10.1017/ext.2025.10008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honest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No living mammoth or thylacine: all sensory reconstruction is partial, bounded, and explicitly tiered.</a:t>
            </a:r>
          </a:p>
          <a:p>
            <a:pPr>
              <a:defRPr sz="1600"/>
            </a:pPr>
            <a:r>
              <a:t>Generative media can feel real, so the deck and UI design against deceptive realism.</a:t>
            </a:r>
          </a:p>
          <a:p>
            <a:pPr>
              <a:defRPr sz="1600"/>
            </a:pPr>
            <a:r>
              <a:t>Two people / short sprint means narrow but deep: one strong integrated experience beats many weak scenes.</a:t>
            </a:r>
          </a:p>
          <a:p>
            <a:pPr>
              <a:defRPr sz="1600"/>
            </a:pPr>
            <a:r>
              <a:t>Desktop WebXR path is canonical; any AR or mobile path is supportive rather than mission-critical.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prompts we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Why these species and not easier icons?</a:t>
            </a:r>
          </a:p>
          <a:p>
            <a:pPr>
              <a:defRPr sz="1600"/>
            </a:pPr>
            <a:r>
              <a:t>Where is the living biology if there is no wet-lab organism on stage?</a:t>
            </a:r>
          </a:p>
          <a:p>
            <a:pPr>
              <a:defRPr sz="1600"/>
            </a:pPr>
            <a:r>
              <a:t>How do you prevent AI misinformation and overclaiming?</a:t>
            </a:r>
          </a:p>
          <a:p>
            <a:pPr>
              <a:defRPr sz="1600"/>
            </a:pPr>
            <a:r>
              <a:t>What would the next four months add: more dossiers, deeper methods, richer physical anchor, or consultant validation?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Archive of Extinction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